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65" r:id="rId14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  <p:embeddedFont>
      <p:font typeface="Prata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13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4543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Онлайн-конструктор мебели REMI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2563118"/>
            <a:ext cx="472276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Веб-приложение с 3D-визуализацией, позволяющее пользователям самостоятельно создавать, настраивать и заказывать мебель в режиме реального времени.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96119" y="3407792"/>
            <a:ext cx="440680" cy="266402"/>
          </a:xfrm>
          <a:prstGeom prst="roundRect">
            <a:avLst>
              <a:gd name="adj" fmla="val 6386"/>
            </a:avLst>
          </a:prstGeom>
          <a:solidFill>
            <a:srgbClr val="443D09"/>
          </a:solidFill>
        </p:spPr>
      </p:sp>
      <p:sp>
        <p:nvSpPr>
          <p:cNvPr id="6" name="Text 3"/>
          <p:cNvSpPr/>
          <p:nvPr/>
        </p:nvSpPr>
        <p:spPr>
          <a:xfrm>
            <a:off x="581174" y="3450282"/>
            <a:ext cx="727770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REMI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07641" y="3403029"/>
            <a:ext cx="124851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459" y="3450282"/>
            <a:ext cx="1526084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3D КОНФИГУРАТОР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9353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Каталог мебели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65858"/>
            <a:ext cx="8151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Пользователь выбирает тип мебели — и сразу начинает настройку. В каталоге представлены все основные категории корпусной мебели REMI.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878955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39653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Шкаф и Гардероб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2646164"/>
            <a:ext cx="259913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Настройка секций, дверей и внутреннего наполнения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2433" y="1878955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339653"/>
            <a:ext cx="178258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Кухонный гарнитур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272433" y="2646164"/>
            <a:ext cx="259913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Модульная сборка под размеры кухни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878955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339653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Комод и Тумба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048747" y="2646164"/>
            <a:ext cx="259913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Гибкая конфигурация ящиков и фасадов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383310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844007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Стеллаж и Полка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96119" y="4150519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Регулируемые полки и секции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2433" y="3383310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72433" y="3844007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Стол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3272433" y="4150519"/>
            <a:ext cx="259913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Настройка размеров, формы и материалов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0685" y="4604385"/>
            <a:ext cx="1075055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4285"/>
            <a:ext cx="800434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3D-конструктор: возможности настройки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550789"/>
            <a:ext cx="2622724" cy="1313334"/>
          </a:xfrm>
          <a:prstGeom prst="roundRect">
            <a:avLst>
              <a:gd name="adj" fmla="val 6962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1550789"/>
            <a:ext cx="76200" cy="13133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1711598"/>
            <a:ext cx="1772022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📐</a:t>
            </a: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Размеры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4077" y="2022872"/>
            <a:ext cx="224395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Ширина, высота и глубина — любые значения в допустимых диапазонах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60601" y="1550789"/>
            <a:ext cx="2622724" cy="1313334"/>
          </a:xfrm>
          <a:prstGeom prst="roundRect">
            <a:avLst>
              <a:gd name="adj" fmla="val 6962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51" y="1550789"/>
            <a:ext cx="76200" cy="13133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1711598"/>
            <a:ext cx="1772022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🔧</a:t>
            </a: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Конструкция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478560" y="2022872"/>
            <a:ext cx="224395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Добавление и удаление полок, секций, ящиков; изменение их расположения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025083" y="1550789"/>
            <a:ext cx="2622724" cy="1313334"/>
          </a:xfrm>
          <a:prstGeom prst="roundRect">
            <a:avLst>
              <a:gd name="adj" fmla="val 6962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33" y="1550789"/>
            <a:ext cx="76200" cy="13133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3042" y="1711598"/>
            <a:ext cx="1772022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🚪</a:t>
            </a: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Тип дверей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243042" y="2022872"/>
            <a:ext cx="224395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Распашные, раздвижные или без дверей — на выбор пользователя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96119" y="3005882"/>
            <a:ext cx="2622724" cy="1313334"/>
          </a:xfrm>
          <a:prstGeom prst="roundRect">
            <a:avLst>
              <a:gd name="adj" fmla="val 6962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3005882"/>
            <a:ext cx="76200" cy="13133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4077" y="3166690"/>
            <a:ext cx="1772022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🎨</a:t>
            </a: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Внешний вид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14077" y="3477964"/>
            <a:ext cx="224395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Цвет корпуса и фасадов, материал: дерево, МДФ, ЛДСП, стекло, металл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3260601" y="3005882"/>
            <a:ext cx="2622724" cy="1313334"/>
          </a:xfrm>
          <a:prstGeom prst="roundRect">
            <a:avLst>
              <a:gd name="adj" fmla="val 6962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51" y="3005882"/>
            <a:ext cx="76200" cy="13133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78560" y="3166690"/>
            <a:ext cx="1772022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⚙️</a:t>
            </a: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Фурнитура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3478560" y="3477964"/>
            <a:ext cx="224395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Ручки, петли, направляющие, ножки — полный контроль над деталями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180" y="4589780"/>
            <a:ext cx="116332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2265"/>
            <a:ext cx="4045818" cy="415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Работа с 3D-моделью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1124545"/>
            <a:ext cx="4371603" cy="23440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3608710"/>
            <a:ext cx="4828803" cy="205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65675" y="2146622"/>
            <a:ext cx="3517850" cy="6179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Пользователь взаимодействует с моделью напрямую — все изменения отображаются мгновенно, без задержек.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945" y="4070970"/>
            <a:ext cx="199355" cy="1993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7062" y="4066877"/>
            <a:ext cx="1661294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Вращение модели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97062" y="4349279"/>
            <a:ext cx="2202135" cy="205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Просмотр со всех сторон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4729" y="4070970"/>
            <a:ext cx="199355" cy="1993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86845" y="4066877"/>
            <a:ext cx="2049438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Зум и панорамирование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686845" y="4349279"/>
            <a:ext cx="2202135" cy="4119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Приближение и перемещение камеры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4512" y="4070970"/>
            <a:ext cx="199355" cy="1993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76628" y="4066877"/>
            <a:ext cx="1661294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Реальное время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476628" y="4349279"/>
            <a:ext cx="2202135" cy="205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Изменения видны сразу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655" y="4629785"/>
            <a:ext cx="1109345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10679"/>
            <a:ext cx="5518175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Автоматический расчёт стоимости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4489" y="879574"/>
            <a:ext cx="3759622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После каждого изменения система мгновенно пересчитывает итоговую цену и показывает стоимость отдельных элементов.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058" y="1085235"/>
            <a:ext cx="3759622" cy="27061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14503" y="3707160"/>
            <a:ext cx="3759622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Иллюстративный пример распределения стоимости по элементам изделия.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74489" y="4214068"/>
            <a:ext cx="1881262" cy="618753"/>
          </a:xfrm>
          <a:prstGeom prst="roundRect">
            <a:avLst>
              <a:gd name="adj" fmla="val 2739"/>
            </a:avLst>
          </a:prstGeom>
          <a:solidFill>
            <a:srgbClr val="3A3B3C"/>
          </a:solidFill>
        </p:spPr>
      </p:sp>
      <p:sp>
        <p:nvSpPr>
          <p:cNvPr id="7" name="Text 4"/>
          <p:cNvSpPr/>
          <p:nvPr/>
        </p:nvSpPr>
        <p:spPr>
          <a:xfrm>
            <a:off x="787450" y="4327029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Материалы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7450" y="4557489"/>
            <a:ext cx="1655341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Тип и объём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45718" y="4214068"/>
            <a:ext cx="1881262" cy="618753"/>
          </a:xfrm>
          <a:prstGeom prst="roundRect">
            <a:avLst>
              <a:gd name="adj" fmla="val 2739"/>
            </a:avLst>
          </a:prstGeom>
          <a:solidFill>
            <a:srgbClr val="3A3B3C"/>
          </a:solidFill>
        </p:spPr>
      </p:sp>
      <p:sp>
        <p:nvSpPr>
          <p:cNvPr id="10" name="Text 7"/>
          <p:cNvSpPr/>
          <p:nvPr/>
        </p:nvSpPr>
        <p:spPr>
          <a:xfrm>
            <a:off x="2758678" y="4327029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Размеры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758678" y="4557489"/>
            <a:ext cx="1655341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Габариты изделия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16946" y="4214068"/>
            <a:ext cx="1881262" cy="618753"/>
          </a:xfrm>
          <a:prstGeom prst="roundRect">
            <a:avLst>
              <a:gd name="adj" fmla="val 2739"/>
            </a:avLst>
          </a:prstGeom>
          <a:solidFill>
            <a:srgbClr val="3A3B3C"/>
          </a:solidFill>
        </p:spPr>
      </p:sp>
      <p:sp>
        <p:nvSpPr>
          <p:cNvPr id="13" name="Text 10"/>
          <p:cNvSpPr/>
          <p:nvPr/>
        </p:nvSpPr>
        <p:spPr>
          <a:xfrm>
            <a:off x="4729907" y="4327029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Элементы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29907" y="4557489"/>
            <a:ext cx="1655341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Количество деталей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588175" y="4214068"/>
            <a:ext cx="1881262" cy="618753"/>
          </a:xfrm>
          <a:prstGeom prst="roundRect">
            <a:avLst>
              <a:gd name="adj" fmla="val 2739"/>
            </a:avLst>
          </a:prstGeom>
          <a:solidFill>
            <a:srgbClr val="3A3B3C"/>
          </a:solidFill>
        </p:spPr>
      </p:sp>
      <p:sp>
        <p:nvSpPr>
          <p:cNvPr id="16" name="Text 13"/>
          <p:cNvSpPr/>
          <p:nvPr/>
        </p:nvSpPr>
        <p:spPr>
          <a:xfrm>
            <a:off x="6701135" y="4327029"/>
            <a:ext cx="1412081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Фурнитура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701135" y="4557489"/>
            <a:ext cx="1655341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Тип и класс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755" y="4834255"/>
            <a:ext cx="1325245" cy="309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527521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Сохранение проекта и оформление заказа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626096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 Light" pitchFamily="34" charset="-122"/>
                <a:cs typeface="Times New Roman" panose="02020603050405020304" pitchFamily="18" charset="0"/>
              </a:rPr>
              <a:t>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47999"/>
            <a:ext cx="2290465" cy="19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956941"/>
            <a:ext cx="186332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Сохранение проекта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96119" y="2263453"/>
            <a:ext cx="2290465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Загрузка ранее сохранённых проектов, скачивание изображения и PDF с параметрами заказа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928342" y="1626096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100" dirty="0">
                <a:solidFill>
                  <a:srgbClr val="CFCBBF"/>
                </a:solidFill>
                <a:latin typeface="Times New Roman" panose="02020603050405020304" pitchFamily="18" charset="0"/>
                <a:ea typeface="Prata Light" pitchFamily="34" charset="-122"/>
                <a:cs typeface="Times New Roman" panose="02020603050405020304" pitchFamily="18" charset="0"/>
              </a:rPr>
              <a:t>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342" y="1862138"/>
            <a:ext cx="2290539" cy="190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28342" y="1956941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Заполнение формы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928342" y="2263453"/>
            <a:ext cx="2290539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Имя, телефон, email и комментарий — простая форма для быстрой отправки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96119" y="3418731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 Light" pitchFamily="34" charset="-122"/>
                <a:cs typeface="Times New Roman" panose="02020603050405020304" pitchFamily="18" charset="0"/>
              </a:rPr>
              <a:t>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626421"/>
            <a:ext cx="4722763" cy="190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49576"/>
            <a:ext cx="191117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Отправка менеджеру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96119" y="4056087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Проект уходит в работу, клиент получает номер заказа и подтверждение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0670" y="1366520"/>
            <a:ext cx="3804285" cy="196151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4201160"/>
            <a:ext cx="27241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89037"/>
            <a:ext cx="5184874" cy="436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Административная панель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21522" y="1952402"/>
            <a:ext cx="4338786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Администратор управляет всем содержимым конструктора и отслеживает активность клиентов из единого интерфейса.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88379" y="3471118"/>
            <a:ext cx="2630835" cy="1283271"/>
          </a:xfrm>
          <a:prstGeom prst="roundRect">
            <a:avLst>
              <a:gd name="adj" fmla="val 1631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6956" y="3629695"/>
            <a:ext cx="2313682" cy="4408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📦</a:t>
            </a: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Управление контентом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6956" y="4152900"/>
            <a:ext cx="2313682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Каталог мебели, цвета, материалы, цены, фурнитура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56583" y="3471118"/>
            <a:ext cx="2630835" cy="1283271"/>
          </a:xfrm>
          <a:prstGeom prst="roundRect">
            <a:avLst>
              <a:gd name="adj" fmla="val 1631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15159" y="3629695"/>
            <a:ext cx="1847031" cy="2227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📋</a:t>
            </a: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Заявки и проекты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15159" y="3934867"/>
            <a:ext cx="2313682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Просмотр заявок клиентов и сохранённых проектов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024786" y="3471118"/>
            <a:ext cx="2630835" cy="1283271"/>
          </a:xfrm>
          <a:prstGeom prst="roundRect">
            <a:avLst>
              <a:gd name="adj" fmla="val 1631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83362" y="3629695"/>
            <a:ext cx="2023988" cy="2227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📊</a:t>
            </a: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Статистика заказов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83362" y="3934867"/>
            <a:ext cx="2313682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Аналитика по заказам и поведению пользователей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385" y="4853305"/>
            <a:ext cx="1442720" cy="2901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4865"/>
            <a:ext cx="4225290" cy="25190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9397"/>
            <a:ext cx="4966841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Технические требования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686744"/>
            <a:ext cx="2229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Frontend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2049959"/>
            <a:ext cx="3902943" cy="779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HTML5, CSS3, JavaScript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React / Vue.js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Three.js — 3D-рендеринг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971279"/>
            <a:ext cx="2229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Backend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3334494"/>
            <a:ext cx="3902943" cy="779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Node.js / PHP / Python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REST API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PostgreSQL / MySQL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49701" y="1686744"/>
            <a:ext cx="37802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Производительность и безопасность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49701" y="2049959"/>
            <a:ext cx="390294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Загрузка не более </a:t>
            </a: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 секунд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Поддержка </a:t>
            </a: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100+ одновременных</a:t>
            </a: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пользователей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Авторизация администратора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Защита данных и валидация форм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49701" y="3265363"/>
            <a:ext cx="3902943" cy="829196"/>
          </a:xfrm>
          <a:prstGeom prst="roundRect">
            <a:avLst>
              <a:gd name="adj" fmla="val 2565"/>
            </a:avLst>
          </a:prstGeom>
          <a:solidFill>
            <a:srgbClr val="022349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480420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0398" y="3442543"/>
            <a:ext cx="330048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Интерфейс адаптивный и поддерживает мобильные устройства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310" y="4535805"/>
            <a:ext cx="1329690" cy="607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50713"/>
            <a:ext cx="5228332" cy="3945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altLang="en-US" sz="24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Скриншоты:</a:t>
            </a:r>
          </a:p>
        </p:txBody>
      </p:sp>
      <p:sp>
        <p:nvSpPr>
          <p:cNvPr id="7" name="Text 3"/>
          <p:cNvSpPr/>
          <p:nvPr/>
        </p:nvSpPr>
        <p:spPr>
          <a:xfrm>
            <a:off x="568077" y="1852240"/>
            <a:ext cx="382146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4754389" y="1587550"/>
            <a:ext cx="161880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754389" y="1852240"/>
            <a:ext cx="3821534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sp>
        <p:nvSpPr>
          <p:cNvPr id="16" name="Text 8"/>
          <p:cNvSpPr/>
          <p:nvPr/>
        </p:nvSpPr>
        <p:spPr>
          <a:xfrm>
            <a:off x="946537" y="1232371"/>
            <a:ext cx="1758255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463937" y="1784717"/>
            <a:ext cx="382146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sp>
        <p:nvSpPr>
          <p:cNvPr id="21" name="Text 11"/>
          <p:cNvSpPr/>
          <p:nvPr/>
        </p:nvSpPr>
        <p:spPr>
          <a:xfrm>
            <a:off x="5308744" y="1232371"/>
            <a:ext cx="1578248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22" name="Text 12"/>
          <p:cNvSpPr/>
          <p:nvPr/>
        </p:nvSpPr>
        <p:spPr>
          <a:xfrm>
            <a:off x="4858529" y="1719312"/>
            <a:ext cx="3821534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sp>
        <p:nvSpPr>
          <p:cNvPr id="26" name="Text 14"/>
          <p:cNvSpPr/>
          <p:nvPr/>
        </p:nvSpPr>
        <p:spPr>
          <a:xfrm>
            <a:off x="3094742" y="3196213"/>
            <a:ext cx="1659359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2615317" y="3645689"/>
            <a:ext cx="3821460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sp>
        <p:nvSpPr>
          <p:cNvPr id="31" name="Text 17"/>
          <p:cNvSpPr/>
          <p:nvPr/>
        </p:nvSpPr>
        <p:spPr>
          <a:xfrm>
            <a:off x="4858529" y="4210943"/>
            <a:ext cx="1578248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395" y="4792980"/>
            <a:ext cx="1792605" cy="33718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4610" y="833755"/>
            <a:ext cx="3735705" cy="204152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5210" y="2851785"/>
            <a:ext cx="4321810" cy="232283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615" y="480695"/>
            <a:ext cx="4859020" cy="2394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599180"/>
            <a:ext cx="2476500" cy="148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430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"/>
            <a:ext cx="9143365" cy="5144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59035"/>
            <a:ext cx="5157415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7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И</a:t>
            </a:r>
            <a:r>
              <a:rPr lang="en-US" sz="1750" dirty="0" err="1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тоговый</a:t>
            </a:r>
            <a:r>
              <a:rPr lang="en-US" sz="175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результат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751" y="659085"/>
            <a:ext cx="5702498" cy="3020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3089" y="2817752"/>
            <a:ext cx="1409934" cy="176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Анализ и дизайн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410027" y="3044125"/>
            <a:ext cx="1510196" cy="2312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Сбор требований и проработка UI/UX.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01648" y="1062973"/>
            <a:ext cx="1409934" cy="176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Ядро разработки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858586" y="1289345"/>
            <a:ext cx="1510196" cy="2312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3D-конструктор, бэкенд и база данных.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242427" y="1062973"/>
            <a:ext cx="1908061" cy="176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Интеграция и тесты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242427" y="1289345"/>
            <a:ext cx="1510196" cy="2312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Подключение API и исправление багов.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75068" y="2817851"/>
            <a:ext cx="1867134" cy="1762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Запуск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75068" y="3044223"/>
            <a:ext cx="1510196" cy="2312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Деплой и мониторинг работы системы.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438721" y="3744888"/>
            <a:ext cx="6723757" cy="119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Четыре последовательных этапа обеспечивают планомерную разработку — от анализа требований до запуска готового продукта.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438721" y="3929435"/>
            <a:ext cx="6266557" cy="955030"/>
          </a:xfrm>
          <a:prstGeom prst="roundRect">
            <a:avLst>
              <a:gd name="adj" fmla="val 1426"/>
            </a:avLst>
          </a:prstGeom>
          <a:solidFill>
            <a:srgbClr val="3A3B3C"/>
          </a:solidFill>
        </p:spPr>
      </p:sp>
      <p:sp>
        <p:nvSpPr>
          <p:cNvPr id="14" name="Shape 11"/>
          <p:cNvSpPr/>
          <p:nvPr/>
        </p:nvSpPr>
        <p:spPr>
          <a:xfrm>
            <a:off x="1438721" y="3929435"/>
            <a:ext cx="3133279" cy="477515"/>
          </a:xfrm>
          <a:prstGeom prst="roundRect">
            <a:avLst>
              <a:gd name="adj" fmla="val 2853"/>
            </a:avLst>
          </a:prstGeom>
          <a:solidFill>
            <a:srgbClr val="3A3B3C"/>
          </a:solidFill>
        </p:spPr>
      </p:sp>
      <p:sp>
        <p:nvSpPr>
          <p:cNvPr id="15" name="Text 12"/>
          <p:cNvSpPr/>
          <p:nvPr/>
        </p:nvSpPr>
        <p:spPr>
          <a:xfrm>
            <a:off x="1529507" y="4020220"/>
            <a:ext cx="1170310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🖥️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3D-визуализация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29507" y="4197028"/>
            <a:ext cx="2951708" cy="119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Интерактивная модель в реальном времени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72000" y="3929435"/>
            <a:ext cx="3133279" cy="477515"/>
          </a:xfrm>
          <a:prstGeom prst="rect">
            <a:avLst/>
          </a:prstGeom>
          <a:solidFill>
            <a:srgbClr val="3A3B3C"/>
          </a:solidFill>
        </p:spPr>
      </p:sp>
      <p:sp>
        <p:nvSpPr>
          <p:cNvPr id="18" name="Shape 15"/>
          <p:cNvSpPr/>
          <p:nvPr/>
        </p:nvSpPr>
        <p:spPr>
          <a:xfrm>
            <a:off x="4572000" y="3929435"/>
            <a:ext cx="9525" cy="477515"/>
          </a:xfrm>
          <a:prstGeom prst="roundRect">
            <a:avLst>
              <a:gd name="adj" fmla="val 143023"/>
            </a:avLst>
          </a:prstGeom>
          <a:solidFill>
            <a:srgbClr val="535455"/>
          </a:solidFill>
        </p:spPr>
      </p:sp>
      <p:sp>
        <p:nvSpPr>
          <p:cNvPr id="19" name="Text 16"/>
          <p:cNvSpPr/>
          <p:nvPr/>
        </p:nvSpPr>
        <p:spPr>
          <a:xfrm>
            <a:off x="4662785" y="4020220"/>
            <a:ext cx="1325389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⚙️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Глубокая настройка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662785" y="4197028"/>
            <a:ext cx="2951708" cy="119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Полный контроль над параметрами мебели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438721" y="4406950"/>
            <a:ext cx="3133279" cy="477515"/>
          </a:xfrm>
          <a:prstGeom prst="rect">
            <a:avLst/>
          </a:prstGeom>
          <a:solidFill>
            <a:srgbClr val="3A3B3C"/>
          </a:solidFill>
        </p:spPr>
      </p:sp>
      <p:sp>
        <p:nvSpPr>
          <p:cNvPr id="22" name="Shape 19"/>
          <p:cNvSpPr/>
          <p:nvPr/>
        </p:nvSpPr>
        <p:spPr>
          <a:xfrm>
            <a:off x="1438721" y="4406950"/>
            <a:ext cx="3133279" cy="9525"/>
          </a:xfrm>
          <a:prstGeom prst="roundRect">
            <a:avLst>
              <a:gd name="adj" fmla="val 143023"/>
            </a:avLst>
          </a:prstGeom>
          <a:solidFill>
            <a:srgbClr val="535455"/>
          </a:solidFill>
        </p:spPr>
      </p:sp>
      <p:sp>
        <p:nvSpPr>
          <p:cNvPr id="23" name="Text 20"/>
          <p:cNvSpPr/>
          <p:nvPr/>
        </p:nvSpPr>
        <p:spPr>
          <a:xfrm>
            <a:off x="1529507" y="4497735"/>
            <a:ext cx="1135187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💰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Авто-расчёт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29507" y="4674543"/>
            <a:ext cx="2951708" cy="119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Мгновенная стоимость при любом изменении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572000" y="4406950"/>
            <a:ext cx="3133279" cy="477515"/>
          </a:xfrm>
          <a:prstGeom prst="rect">
            <a:avLst/>
          </a:prstGeom>
          <a:solidFill>
            <a:srgbClr val="3A3B3C"/>
          </a:solidFill>
        </p:spPr>
      </p:sp>
      <p:sp>
        <p:nvSpPr>
          <p:cNvPr id="26" name="Shape 23"/>
          <p:cNvSpPr/>
          <p:nvPr/>
        </p:nvSpPr>
        <p:spPr>
          <a:xfrm>
            <a:off x="4572000" y="4406950"/>
            <a:ext cx="9525" cy="477515"/>
          </a:xfrm>
          <a:prstGeom prst="roundRect">
            <a:avLst>
              <a:gd name="adj" fmla="val 143023"/>
            </a:avLst>
          </a:prstGeom>
          <a:solidFill>
            <a:srgbClr val="535455"/>
          </a:solidFill>
        </p:spPr>
      </p:sp>
      <p:sp>
        <p:nvSpPr>
          <p:cNvPr id="27" name="Shape 24"/>
          <p:cNvSpPr/>
          <p:nvPr/>
        </p:nvSpPr>
        <p:spPr>
          <a:xfrm>
            <a:off x="4572000" y="4406950"/>
            <a:ext cx="3133279" cy="9525"/>
          </a:xfrm>
          <a:prstGeom prst="roundRect">
            <a:avLst>
              <a:gd name="adj" fmla="val 143023"/>
            </a:avLst>
          </a:prstGeom>
          <a:solidFill>
            <a:srgbClr val="535455"/>
          </a:solidFill>
        </p:spPr>
      </p:sp>
      <p:sp>
        <p:nvSpPr>
          <p:cNvPr id="28" name="Text 25"/>
          <p:cNvSpPr/>
          <p:nvPr/>
        </p:nvSpPr>
        <p:spPr>
          <a:xfrm>
            <a:off x="4662785" y="4497735"/>
            <a:ext cx="1327249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📤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Prata" panose="00000500000000000000" pitchFamily="34" charset="-122"/>
                <a:cs typeface="Times New Roman" panose="02020603050405020304" pitchFamily="18" charset="0"/>
              </a:rPr>
              <a:t> Оформление заказа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662785" y="4674543"/>
            <a:ext cx="2951708" cy="119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Простая отправка проекта менеджеру REMI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180" y="4614545"/>
            <a:ext cx="1227455" cy="504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486</Words>
  <Application>Microsoft Office PowerPoint</Application>
  <PresentationFormat>Экран (16:9)</PresentationFormat>
  <Paragraphs>108</Paragraphs>
  <Slides>13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Prata</vt:lpstr>
      <vt:lpstr>Arial</vt:lpstr>
      <vt:lpstr>Times New Roman</vt:lpstr>
      <vt:lpstr>Calibri Light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Windows</cp:lastModifiedBy>
  <cp:revision>5</cp:revision>
  <dcterms:created xsi:type="dcterms:W3CDTF">2026-05-25T11:35:00Z</dcterms:created>
  <dcterms:modified xsi:type="dcterms:W3CDTF">2026-05-27T20:09:55Z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3A94C2EC4ADC497CA582D3FC720606E5_12</vt:lpwstr>
  </property>
  <property fmtid="{D5CDD505-2E9C-101B-9397-08002B2CF9AE}" pid="3" name="KSOProductBuildVer">
    <vt:lpwstr>1033-12.1.0.26372</vt:lpwstr>
  </property>
</Properties>
</file>